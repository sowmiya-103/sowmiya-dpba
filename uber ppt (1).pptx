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67" r:id="rId15"/>
    <p:sldId id="26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152607-8E10-4330-81B3-EE00E2375C82}"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44C5B1-C6B4-46EC-B563-77C54AFCB8A9}" type="slidenum">
              <a:rPr lang="en-IN" smtClean="0"/>
              <a:t>‹#›</a:t>
            </a:fld>
            <a:endParaRPr lang="en-IN"/>
          </a:p>
        </p:txBody>
      </p:sp>
    </p:spTree>
    <p:extLst>
      <p:ext uri="{BB962C8B-B14F-4D97-AF65-F5344CB8AC3E}">
        <p14:creationId xmlns:p14="http://schemas.microsoft.com/office/powerpoint/2010/main" val="3238558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152607-8E10-4330-81B3-EE00E2375C82}"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44C5B1-C6B4-46EC-B563-77C54AFCB8A9}" type="slidenum">
              <a:rPr lang="en-IN" smtClean="0"/>
              <a:t>‹#›</a:t>
            </a:fld>
            <a:endParaRPr lang="en-IN"/>
          </a:p>
        </p:txBody>
      </p:sp>
    </p:spTree>
    <p:extLst>
      <p:ext uri="{BB962C8B-B14F-4D97-AF65-F5344CB8AC3E}">
        <p14:creationId xmlns:p14="http://schemas.microsoft.com/office/powerpoint/2010/main" val="947350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152607-8E10-4330-81B3-EE00E2375C82}"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44C5B1-C6B4-46EC-B563-77C54AFCB8A9}" type="slidenum">
              <a:rPr lang="en-IN" smtClean="0"/>
              <a:t>‹#›</a:t>
            </a:fld>
            <a:endParaRPr lang="en-IN"/>
          </a:p>
        </p:txBody>
      </p:sp>
    </p:spTree>
    <p:extLst>
      <p:ext uri="{BB962C8B-B14F-4D97-AF65-F5344CB8AC3E}">
        <p14:creationId xmlns:p14="http://schemas.microsoft.com/office/powerpoint/2010/main" val="2772834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152607-8E10-4330-81B3-EE00E2375C82}"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44C5B1-C6B4-46EC-B563-77C54AFCB8A9}" type="slidenum">
              <a:rPr lang="en-IN" smtClean="0"/>
              <a:t>‹#›</a:t>
            </a:fld>
            <a:endParaRPr lang="en-IN"/>
          </a:p>
        </p:txBody>
      </p:sp>
    </p:spTree>
    <p:extLst>
      <p:ext uri="{BB962C8B-B14F-4D97-AF65-F5344CB8AC3E}">
        <p14:creationId xmlns:p14="http://schemas.microsoft.com/office/powerpoint/2010/main" val="139459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152607-8E10-4330-81B3-EE00E2375C82}" type="datetimeFigureOut">
              <a:rPr lang="en-IN" smtClean="0"/>
              <a:t>04-03-2026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144C5B1-C6B4-46EC-B563-77C54AFCB8A9}" type="slidenum">
              <a:rPr lang="en-IN" smtClean="0"/>
              <a:t>‹#›</a:t>
            </a:fld>
            <a:endParaRPr lang="en-IN"/>
          </a:p>
        </p:txBody>
      </p:sp>
    </p:spTree>
    <p:extLst>
      <p:ext uri="{BB962C8B-B14F-4D97-AF65-F5344CB8AC3E}">
        <p14:creationId xmlns:p14="http://schemas.microsoft.com/office/powerpoint/2010/main" val="2850622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152607-8E10-4330-81B3-EE00E2375C82}" type="datetimeFigureOut">
              <a:rPr lang="en-IN" smtClean="0"/>
              <a:t>04-03-2026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44C5B1-C6B4-46EC-B563-77C54AFCB8A9}" type="slidenum">
              <a:rPr lang="en-IN" smtClean="0"/>
              <a:t>‹#›</a:t>
            </a:fld>
            <a:endParaRPr lang="en-IN"/>
          </a:p>
        </p:txBody>
      </p:sp>
    </p:spTree>
    <p:extLst>
      <p:ext uri="{BB962C8B-B14F-4D97-AF65-F5344CB8AC3E}">
        <p14:creationId xmlns:p14="http://schemas.microsoft.com/office/powerpoint/2010/main" val="892057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152607-8E10-4330-81B3-EE00E2375C82}" type="datetimeFigureOut">
              <a:rPr lang="en-IN" smtClean="0"/>
              <a:t>04-03-2026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144C5B1-C6B4-46EC-B563-77C54AFCB8A9}" type="slidenum">
              <a:rPr lang="en-IN" smtClean="0"/>
              <a:t>‹#›</a:t>
            </a:fld>
            <a:endParaRPr lang="en-IN"/>
          </a:p>
        </p:txBody>
      </p:sp>
    </p:spTree>
    <p:extLst>
      <p:ext uri="{BB962C8B-B14F-4D97-AF65-F5344CB8AC3E}">
        <p14:creationId xmlns:p14="http://schemas.microsoft.com/office/powerpoint/2010/main" val="712982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152607-8E10-4330-81B3-EE00E2375C82}"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44C5B1-C6B4-46EC-B563-77C54AFCB8A9}" type="slidenum">
              <a:rPr lang="en-IN" smtClean="0"/>
              <a:t>‹#›</a:t>
            </a:fld>
            <a:endParaRPr lang="en-IN"/>
          </a:p>
        </p:txBody>
      </p:sp>
    </p:spTree>
    <p:extLst>
      <p:ext uri="{BB962C8B-B14F-4D97-AF65-F5344CB8AC3E}">
        <p14:creationId xmlns:p14="http://schemas.microsoft.com/office/powerpoint/2010/main" val="881822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152607-8E10-4330-81B3-EE00E2375C82}"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44C5B1-C6B4-46EC-B563-77C54AFCB8A9}" type="slidenum">
              <a:rPr lang="en-IN" smtClean="0"/>
              <a:t>‹#›</a:t>
            </a:fld>
            <a:endParaRPr lang="en-IN"/>
          </a:p>
        </p:txBody>
      </p:sp>
    </p:spTree>
    <p:extLst>
      <p:ext uri="{BB962C8B-B14F-4D97-AF65-F5344CB8AC3E}">
        <p14:creationId xmlns:p14="http://schemas.microsoft.com/office/powerpoint/2010/main" val="1137732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152607-8E10-4330-81B3-EE00E2375C82}"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44C5B1-C6B4-46EC-B563-77C54AFCB8A9}" type="slidenum">
              <a:rPr lang="en-IN" smtClean="0"/>
              <a:t>‹#›</a:t>
            </a:fld>
            <a:endParaRPr lang="en-IN"/>
          </a:p>
        </p:txBody>
      </p:sp>
    </p:spTree>
    <p:extLst>
      <p:ext uri="{BB962C8B-B14F-4D97-AF65-F5344CB8AC3E}">
        <p14:creationId xmlns:p14="http://schemas.microsoft.com/office/powerpoint/2010/main" val="3463293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152607-8E10-4330-81B3-EE00E2375C82}"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44C5B1-C6B4-46EC-B563-77C54AFCB8A9}" type="slidenum">
              <a:rPr lang="en-IN" smtClean="0"/>
              <a:t>‹#›</a:t>
            </a:fld>
            <a:endParaRPr lang="en-IN"/>
          </a:p>
        </p:txBody>
      </p:sp>
    </p:spTree>
    <p:extLst>
      <p:ext uri="{BB962C8B-B14F-4D97-AF65-F5344CB8AC3E}">
        <p14:creationId xmlns:p14="http://schemas.microsoft.com/office/powerpoint/2010/main" val="1708463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152607-8E10-4330-81B3-EE00E2375C82}"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44C5B1-C6B4-46EC-B563-77C54AFCB8A9}"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643788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152607-8E10-4330-81B3-EE00E2375C82}"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44C5B1-C6B4-46EC-B563-77C54AFCB8A9}" type="slidenum">
              <a:rPr lang="en-IN" smtClean="0"/>
              <a:t>‹#›</a:t>
            </a:fld>
            <a:endParaRPr lang="en-IN"/>
          </a:p>
        </p:txBody>
      </p:sp>
    </p:spTree>
    <p:extLst>
      <p:ext uri="{BB962C8B-B14F-4D97-AF65-F5344CB8AC3E}">
        <p14:creationId xmlns:p14="http://schemas.microsoft.com/office/powerpoint/2010/main" val="9449556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C152607-8E10-4330-81B3-EE00E2375C82}" type="datetimeFigureOut">
              <a:rPr lang="en-IN" smtClean="0"/>
              <a:t>04-03-2026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44C5B1-C6B4-46EC-B563-77C54AFCB8A9}" type="slidenum">
              <a:rPr lang="en-IN" smtClean="0"/>
              <a:t>‹#›</a:t>
            </a:fld>
            <a:endParaRPr lang="en-IN"/>
          </a:p>
        </p:txBody>
      </p:sp>
    </p:spTree>
    <p:extLst>
      <p:ext uri="{BB962C8B-B14F-4D97-AF65-F5344CB8AC3E}">
        <p14:creationId xmlns:p14="http://schemas.microsoft.com/office/powerpoint/2010/main" val="8478979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C152607-8E10-4330-81B3-EE00E2375C82}" type="datetimeFigureOut">
              <a:rPr lang="en-IN" smtClean="0"/>
              <a:t>04-03-2026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44C5B1-C6B4-46EC-B563-77C54AFCB8A9}" type="slidenum">
              <a:rPr lang="en-IN" smtClean="0"/>
              <a:t>‹#›</a:t>
            </a:fld>
            <a:endParaRPr lang="en-IN"/>
          </a:p>
        </p:txBody>
      </p:sp>
    </p:spTree>
    <p:extLst>
      <p:ext uri="{BB962C8B-B14F-4D97-AF65-F5344CB8AC3E}">
        <p14:creationId xmlns:p14="http://schemas.microsoft.com/office/powerpoint/2010/main" val="35882472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152607-8E10-4330-81B3-EE00E2375C82}"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44C5B1-C6B4-46EC-B563-77C54AFCB8A9}" type="slidenum">
              <a:rPr lang="en-IN" smtClean="0"/>
              <a:t>‹#›</a:t>
            </a:fld>
            <a:endParaRPr lang="en-IN"/>
          </a:p>
        </p:txBody>
      </p:sp>
    </p:spTree>
    <p:extLst>
      <p:ext uri="{BB962C8B-B14F-4D97-AF65-F5344CB8AC3E}">
        <p14:creationId xmlns:p14="http://schemas.microsoft.com/office/powerpoint/2010/main" val="3677300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152607-8E10-4330-81B3-EE00E2375C82}"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44C5B1-C6B4-46EC-B563-77C54AFCB8A9}" type="slidenum">
              <a:rPr lang="en-IN" smtClean="0"/>
              <a:t>‹#›</a:t>
            </a:fld>
            <a:endParaRPr lang="en-IN"/>
          </a:p>
        </p:txBody>
      </p:sp>
    </p:spTree>
    <p:extLst>
      <p:ext uri="{BB962C8B-B14F-4D97-AF65-F5344CB8AC3E}">
        <p14:creationId xmlns:p14="http://schemas.microsoft.com/office/powerpoint/2010/main" val="2612060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0C152607-8E10-4330-81B3-EE00E2375C82}" type="datetimeFigureOut">
              <a:rPr lang="en-IN" smtClean="0"/>
              <a:t>04-03-2026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144C5B1-C6B4-46EC-B563-77C54AFCB8A9}" type="slidenum">
              <a:rPr lang="en-IN" smtClean="0"/>
              <a:t>‹#›</a:t>
            </a:fld>
            <a:endParaRPr lang="en-IN"/>
          </a:p>
        </p:txBody>
      </p:sp>
    </p:spTree>
    <p:extLst>
      <p:ext uri="{BB962C8B-B14F-4D97-AF65-F5344CB8AC3E}">
        <p14:creationId xmlns:p14="http://schemas.microsoft.com/office/powerpoint/2010/main" val="275629513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136BB-6A21-507F-C247-51324AA678D1}"/>
              </a:ext>
            </a:extLst>
          </p:cNvPr>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UBER ANALYSIS</a:t>
            </a:r>
          </a:p>
        </p:txBody>
      </p:sp>
      <p:sp>
        <p:nvSpPr>
          <p:cNvPr id="3" name="Subtitle 2">
            <a:extLst>
              <a:ext uri="{FF2B5EF4-FFF2-40B4-BE49-F238E27FC236}">
                <a16:creationId xmlns:a16="http://schemas.microsoft.com/office/drawing/2014/main" id="{839C9CC1-4700-5A18-38DA-DDB20E7F858C}"/>
              </a:ext>
            </a:extLst>
          </p:cNvPr>
          <p:cNvSpPr>
            <a:spLocks noGrp="1"/>
          </p:cNvSpPr>
          <p:nvPr>
            <p:ph type="subTitle" idx="1"/>
          </p:nvPr>
        </p:nvSpPr>
        <p:spPr/>
        <p:txBody>
          <a:bodyPr/>
          <a:lstStyle/>
          <a:p>
            <a:pPr algn="r"/>
            <a:endParaRPr lang="en-IN" dirty="0"/>
          </a:p>
          <a:p>
            <a:pPr algn="r"/>
            <a:r>
              <a:rPr lang="en-IN" dirty="0"/>
              <a:t>PRESENTED BY </a:t>
            </a:r>
          </a:p>
          <a:p>
            <a:pPr algn="r"/>
            <a:r>
              <a:rPr lang="en-IN" dirty="0"/>
              <a:t>SOWMIYA S</a:t>
            </a:r>
          </a:p>
        </p:txBody>
      </p:sp>
    </p:spTree>
    <p:extLst>
      <p:ext uri="{BB962C8B-B14F-4D97-AF65-F5344CB8AC3E}">
        <p14:creationId xmlns:p14="http://schemas.microsoft.com/office/powerpoint/2010/main" val="1582215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BEA63-55E5-2E9E-CEAF-F36934A0BCAC}"/>
              </a:ext>
            </a:extLst>
          </p:cNvPr>
          <p:cNvSpPr>
            <a:spLocks noGrp="1"/>
          </p:cNvSpPr>
          <p:nvPr>
            <p:ph type="title"/>
          </p:nvPr>
        </p:nvSpPr>
        <p:spPr/>
        <p:txBody>
          <a:bodyPr>
            <a:normAutofit/>
          </a:bodyPr>
          <a:lstStyle/>
          <a:p>
            <a:pPr algn="l"/>
            <a:r>
              <a:rPr lang="en-IN" sz="3200" dirty="0">
                <a:solidFill>
                  <a:srgbClr val="00B0F0"/>
                </a:solidFill>
                <a:latin typeface="Times New Roman" panose="02020603050405020304" pitchFamily="18" charset="0"/>
                <a:cs typeface="Times New Roman" panose="02020603050405020304" pitchFamily="18" charset="0"/>
              </a:rPr>
              <a:t>INTRODUCATION</a:t>
            </a:r>
            <a:r>
              <a:rPr lang="en-IN" sz="3200" dirty="0">
                <a:solidFill>
                  <a:schemeClr val="accent2"/>
                </a:solidFill>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EF28B360-3C65-7F70-0624-2DD523603C95}"/>
              </a:ext>
            </a:extLst>
          </p:cNvPr>
          <p:cNvSpPr>
            <a:spLocks noGrp="1"/>
          </p:cNvSpPr>
          <p:nvPr>
            <p:ph idx="1"/>
          </p:nvPr>
        </p:nvSpPr>
        <p:spPr>
          <a:xfrm>
            <a:off x="913794" y="1935921"/>
            <a:ext cx="10353762" cy="3695136"/>
          </a:xfrm>
        </p:spPr>
        <p:txBody>
          <a:bodyPr>
            <a:normAutofit fontScale="92500" lnSpcReduction="20000"/>
          </a:bodyPr>
          <a:lstStyle/>
          <a:p>
            <a:r>
              <a:rPr lang="en-US" sz="2600" dirty="0">
                <a:latin typeface="Times New Roman" panose="02020603050405020304" pitchFamily="18" charset="0"/>
                <a:cs typeface="Times New Roman" panose="02020603050405020304" pitchFamily="18" charset="0"/>
              </a:rPr>
              <a:t>Uber is a digital platform that connects customers with transportation and delivery services using a mobile application.</a:t>
            </a:r>
          </a:p>
          <a:p>
            <a:r>
              <a:rPr lang="en-US" sz="2600" dirty="0">
                <a:latin typeface="Times New Roman" panose="02020603050405020304" pitchFamily="18" charset="0"/>
                <a:cs typeface="Times New Roman" panose="02020603050405020304" pitchFamily="18" charset="0"/>
              </a:rPr>
              <a:t>The Uber Dataset Analysis focuses on examining ride booking data to understand overall business performance and customer behavior. The dataset includes important details such as trip time, pickup and drop locations, distance traveled, and fare amount.</a:t>
            </a:r>
          </a:p>
          <a:p>
            <a:r>
              <a:rPr lang="en-US" sz="2600" dirty="0">
                <a:latin typeface="Times New Roman" panose="02020603050405020304" pitchFamily="18" charset="0"/>
                <a:cs typeface="Times New Roman" panose="02020603050405020304" pitchFamily="18" charset="0"/>
              </a:rPr>
              <a:t>This analysis helps identify booking patterns, peak hours, and high-demand locations. By studying these patterns, we can understand when and where most trips occur and how demand changes over time.</a:t>
            </a:r>
          </a:p>
          <a:p>
            <a:pPr marL="0" indent="0">
              <a:buNone/>
            </a:pP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800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E3F5F-1058-8176-451C-B8D7F169B335}"/>
              </a:ext>
            </a:extLst>
          </p:cNvPr>
          <p:cNvSpPr>
            <a:spLocks noGrp="1"/>
          </p:cNvSpPr>
          <p:nvPr>
            <p:ph type="title"/>
          </p:nvPr>
        </p:nvSpPr>
        <p:spPr/>
        <p:txBody>
          <a:bodyPr>
            <a:normAutofit/>
          </a:bodyPr>
          <a:lstStyle/>
          <a:p>
            <a:pPr algn="l"/>
            <a:r>
              <a:rPr lang="en-IN" sz="3200" dirty="0">
                <a:solidFill>
                  <a:srgbClr val="00B0F0"/>
                </a:solidFill>
                <a:latin typeface="Times New Roman" panose="02020603050405020304" pitchFamily="18" charset="0"/>
                <a:cs typeface="Times New Roman" panose="02020603050405020304" pitchFamily="18" charset="0"/>
              </a:rPr>
              <a:t>PROBLEM STATEMENT :</a:t>
            </a:r>
          </a:p>
        </p:txBody>
      </p:sp>
      <p:sp>
        <p:nvSpPr>
          <p:cNvPr id="3" name="Content Placeholder 2">
            <a:extLst>
              <a:ext uri="{FF2B5EF4-FFF2-40B4-BE49-F238E27FC236}">
                <a16:creationId xmlns:a16="http://schemas.microsoft.com/office/drawing/2014/main" id="{BCFE6928-BED1-49FC-C178-C376CC859F2E}"/>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The main problem in this Uber Dataset Analysis is that large volumes of trip data are available, but they do not directly provide clear business insights.</a:t>
            </a:r>
          </a:p>
          <a:p>
            <a:r>
              <a:rPr lang="en-US" sz="2400" dirty="0">
                <a:latin typeface="Times New Roman" panose="02020603050405020304" pitchFamily="18" charset="0"/>
                <a:cs typeface="Times New Roman" panose="02020603050405020304" pitchFamily="18" charset="0"/>
              </a:rPr>
              <a:t>Without proper analysis, it is challenging to identify which areas generate the highest revenue or when additional drivers are required. </a:t>
            </a:r>
          </a:p>
          <a:p>
            <a:r>
              <a:rPr lang="en-US" sz="2400" dirty="0">
                <a:latin typeface="Times New Roman" panose="02020603050405020304" pitchFamily="18" charset="0"/>
                <a:cs typeface="Times New Roman" panose="02020603050405020304" pitchFamily="18" charset="0"/>
              </a:rPr>
              <a:t>Therefore, this project aims to analyze the data to identify peak booking periods, high-demand locations, revenue trends, and overall performance using key performance indicators (KPIs). </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3163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82F5A-BE5E-9D72-1A15-733E9A4FE3DE}"/>
              </a:ext>
            </a:extLst>
          </p:cNvPr>
          <p:cNvSpPr>
            <a:spLocks noGrp="1"/>
          </p:cNvSpPr>
          <p:nvPr>
            <p:ph type="title"/>
          </p:nvPr>
        </p:nvSpPr>
        <p:spPr/>
        <p:txBody>
          <a:bodyPr>
            <a:normAutofit/>
          </a:bodyPr>
          <a:lstStyle/>
          <a:p>
            <a:pPr algn="l"/>
            <a:r>
              <a:rPr lang="en-IN" sz="3200" dirty="0">
                <a:solidFill>
                  <a:srgbClr val="00B0F0"/>
                </a:solidFill>
                <a:latin typeface="Times New Roman" panose="02020603050405020304" pitchFamily="18" charset="0"/>
                <a:cs typeface="Times New Roman" panose="02020603050405020304" pitchFamily="18" charset="0"/>
              </a:rPr>
              <a:t>BUSINESS PROBLEM :</a:t>
            </a:r>
          </a:p>
        </p:txBody>
      </p:sp>
      <p:sp>
        <p:nvSpPr>
          <p:cNvPr id="3" name="Content Placeholder 2">
            <a:extLst>
              <a:ext uri="{FF2B5EF4-FFF2-40B4-BE49-F238E27FC236}">
                <a16:creationId xmlns:a16="http://schemas.microsoft.com/office/drawing/2014/main" id="{6FDB1B2B-25B9-A19D-DA58-6436545DDD07}"/>
              </a:ext>
            </a:extLst>
          </p:cNvPr>
          <p:cNvSpPr>
            <a:spLocks noGrp="1"/>
          </p:cNvSpPr>
          <p:nvPr>
            <p:ph idx="1"/>
          </p:nvPr>
        </p:nvSpPr>
        <p:spPr/>
        <p:txBody>
          <a:bodyPr>
            <a:normAutofit lnSpcReduction="10000"/>
          </a:bodyPr>
          <a:lstStyle/>
          <a:p>
            <a:r>
              <a:rPr lang="en-US" sz="2400" dirty="0">
                <a:latin typeface="Times New Roman" panose="02020603050405020304" pitchFamily="18" charset="0"/>
                <a:cs typeface="Times New Roman" panose="02020603050405020304" pitchFamily="18" charset="0"/>
              </a:rPr>
              <a:t>The main business problem is how to improve revenue, manage ride demand efficiently, and optimize driver allocation using available trip data. </a:t>
            </a:r>
          </a:p>
          <a:p>
            <a:r>
              <a:rPr lang="en-US" sz="2400" dirty="0">
                <a:latin typeface="Times New Roman" panose="02020603050405020304" pitchFamily="18" charset="0"/>
                <a:cs typeface="Times New Roman" panose="02020603050405020304" pitchFamily="18" charset="0"/>
              </a:rPr>
              <a:t>Although large amounts of ride data are generated daily, the company may face challenges such as uneven demand across locations, peak-hour overload, low utilization during off-peak hours, and fluctuating revenue patterns.</a:t>
            </a:r>
          </a:p>
          <a:p>
            <a:r>
              <a:rPr lang="en-IN" sz="2400" dirty="0">
                <a:latin typeface="Times New Roman" panose="02020603050405020304" pitchFamily="18" charset="0"/>
                <a:cs typeface="Times New Roman" panose="02020603050405020304" pitchFamily="18" charset="0"/>
              </a:rPr>
              <a:t>Predict high-demand periods , Allocate drivers effectively , Maximize revenue opportunities , </a:t>
            </a:r>
            <a:r>
              <a:rPr lang="en-US" sz="2400" dirty="0">
                <a:latin typeface="Times New Roman" panose="02020603050405020304" pitchFamily="18" charset="0"/>
                <a:cs typeface="Times New Roman" panose="02020603050405020304" pitchFamily="18" charset="0"/>
              </a:rPr>
              <a:t>Reduce waiting time for customers , </a:t>
            </a:r>
            <a:r>
              <a:rPr lang="en-IN" sz="2400" dirty="0">
                <a:latin typeface="Times New Roman" panose="02020603050405020304" pitchFamily="18" charset="0"/>
                <a:cs typeface="Times New Roman" panose="02020603050405020304" pitchFamily="18" charset="0"/>
              </a:rPr>
              <a:t>Improve overall operational efficiency</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431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87EF9-345D-B75A-046E-F4DE28F68FC9}"/>
              </a:ext>
            </a:extLst>
          </p:cNvPr>
          <p:cNvSpPr>
            <a:spLocks noGrp="1"/>
          </p:cNvSpPr>
          <p:nvPr>
            <p:ph type="title"/>
          </p:nvPr>
        </p:nvSpPr>
        <p:spPr>
          <a:xfrm>
            <a:off x="924445" y="426843"/>
            <a:ext cx="10353761" cy="1326321"/>
          </a:xfrm>
        </p:spPr>
        <p:txBody>
          <a:bodyPr>
            <a:normAutofit/>
          </a:bodyPr>
          <a:lstStyle/>
          <a:p>
            <a:pPr algn="l"/>
            <a:r>
              <a:rPr lang="en-IN" sz="3200" dirty="0">
                <a:solidFill>
                  <a:srgbClr val="00B0F0"/>
                </a:solidFill>
                <a:latin typeface="Times New Roman" panose="02020603050405020304" pitchFamily="18" charset="0"/>
                <a:cs typeface="Times New Roman" panose="02020603050405020304" pitchFamily="18" charset="0"/>
              </a:rPr>
              <a:t>DATA OVERVIEW :</a:t>
            </a:r>
          </a:p>
        </p:txBody>
      </p:sp>
      <p:sp>
        <p:nvSpPr>
          <p:cNvPr id="3" name="Content Placeholder 2">
            <a:extLst>
              <a:ext uri="{FF2B5EF4-FFF2-40B4-BE49-F238E27FC236}">
                <a16:creationId xmlns:a16="http://schemas.microsoft.com/office/drawing/2014/main" id="{F0CABD7B-C685-1A40-0626-61414A9976E0}"/>
              </a:ext>
            </a:extLst>
          </p:cNvPr>
          <p:cNvSpPr>
            <a:spLocks noGrp="1"/>
          </p:cNvSpPr>
          <p:nvPr>
            <p:ph idx="1"/>
          </p:nvPr>
        </p:nvSpPr>
        <p:spPr>
          <a:xfrm>
            <a:off x="924444" y="1581432"/>
            <a:ext cx="10353762" cy="3695136"/>
          </a:xfrm>
        </p:spPr>
        <p:txBody>
          <a:bodyPr>
            <a:noAutofit/>
          </a:bodyPr>
          <a:lstStyle/>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Trip ID                                                </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Pickup Time                                                            </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Dropoff Time</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Passenger Count</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Trip Distance </a:t>
            </a:r>
          </a:p>
          <a:p>
            <a:pPr>
              <a:buFont typeface="Wingdings" panose="05000000000000000000" pitchFamily="2" charset="2"/>
              <a:buChar char="Ø"/>
            </a:pPr>
            <a:r>
              <a:rPr lang="en-IN" sz="1800" dirty="0" err="1">
                <a:latin typeface="Times New Roman" panose="02020603050405020304" pitchFamily="18" charset="0"/>
                <a:cs typeface="Times New Roman" panose="02020603050405020304" pitchFamily="18" charset="0"/>
              </a:rPr>
              <a:t>PULocation</a:t>
            </a:r>
            <a:r>
              <a:rPr lang="en-IN" sz="1800" dirty="0">
                <a:latin typeface="Times New Roman" panose="02020603050405020304" pitchFamily="18" charset="0"/>
                <a:cs typeface="Times New Roman" panose="02020603050405020304" pitchFamily="18" charset="0"/>
              </a:rPr>
              <a:t> ID</a:t>
            </a:r>
          </a:p>
          <a:p>
            <a:pPr>
              <a:buFont typeface="Wingdings" panose="05000000000000000000" pitchFamily="2" charset="2"/>
              <a:buChar char="Ø"/>
            </a:pPr>
            <a:r>
              <a:rPr lang="en-IN" sz="1800" dirty="0" err="1">
                <a:latin typeface="Times New Roman" panose="02020603050405020304" pitchFamily="18" charset="0"/>
                <a:cs typeface="Times New Roman" panose="02020603050405020304" pitchFamily="18" charset="0"/>
              </a:rPr>
              <a:t>DOLocation</a:t>
            </a:r>
            <a:r>
              <a:rPr lang="en-IN" sz="1800" dirty="0">
                <a:latin typeface="Times New Roman" panose="02020603050405020304" pitchFamily="18" charset="0"/>
                <a:cs typeface="Times New Roman" panose="02020603050405020304" pitchFamily="18" charset="0"/>
              </a:rPr>
              <a:t> ID</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Fare Amount</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Surge Fee </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Vechicle</a:t>
            </a:r>
            <a:r>
              <a:rPr lang="en-IN" sz="18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Payment Type </a:t>
            </a:r>
          </a:p>
          <a:p>
            <a:pPr marL="0" indent="0">
              <a:buNone/>
            </a:pPr>
            <a:r>
              <a:rPr lang="en-I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773076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4CA33-D4F7-23D6-728A-2988AF674752}"/>
              </a:ext>
            </a:extLst>
          </p:cNvPr>
          <p:cNvSpPr>
            <a:spLocks noGrp="1"/>
          </p:cNvSpPr>
          <p:nvPr>
            <p:ph type="title"/>
          </p:nvPr>
        </p:nvSpPr>
        <p:spPr/>
        <p:txBody>
          <a:bodyPr>
            <a:normAutofit/>
          </a:bodyPr>
          <a:lstStyle/>
          <a:p>
            <a:pPr algn="l"/>
            <a:r>
              <a:rPr lang="en-IN" sz="3200" dirty="0">
                <a:solidFill>
                  <a:srgbClr val="00B0F0"/>
                </a:solidFill>
                <a:latin typeface="Times New Roman" panose="02020603050405020304" pitchFamily="18" charset="0"/>
                <a:cs typeface="Times New Roman" panose="02020603050405020304" pitchFamily="18" charset="0"/>
              </a:rPr>
              <a:t>TECHNOLOGY USED :</a:t>
            </a:r>
          </a:p>
        </p:txBody>
      </p:sp>
      <p:sp>
        <p:nvSpPr>
          <p:cNvPr id="3" name="Content Placeholder 2">
            <a:extLst>
              <a:ext uri="{FF2B5EF4-FFF2-40B4-BE49-F238E27FC236}">
                <a16:creationId xmlns:a16="http://schemas.microsoft.com/office/drawing/2014/main" id="{8CA9741C-D8E8-03A3-5B40-E34256E607EC}"/>
              </a:ext>
            </a:extLst>
          </p:cNvPr>
          <p:cNvSpPr>
            <a:spLocks noGrp="1"/>
          </p:cNvSpPr>
          <p:nvPr>
            <p:ph idx="1"/>
          </p:nvPr>
        </p:nvSpPr>
        <p:spPr/>
        <p:txBody>
          <a:bodyPr>
            <a:normAutofit fontScale="92500" lnSpcReduction="10000"/>
          </a:bodyPr>
          <a:lstStyle/>
          <a:p>
            <a:r>
              <a:rPr lang="en-US" sz="2600" dirty="0">
                <a:latin typeface="Times New Roman" panose="02020603050405020304" pitchFamily="18" charset="0"/>
                <a:cs typeface="Times New Roman" panose="02020603050405020304" pitchFamily="18" charset="0"/>
              </a:rPr>
              <a:t>Used Microsoft Power BI for data analysis and visualization</a:t>
            </a:r>
          </a:p>
          <a:p>
            <a:r>
              <a:rPr lang="en-US" sz="2600" dirty="0">
                <a:latin typeface="Times New Roman" panose="02020603050405020304" pitchFamily="18" charset="0"/>
                <a:cs typeface="Times New Roman" panose="02020603050405020304" pitchFamily="18" charset="0"/>
              </a:rPr>
              <a:t>Imported Uber dataset into Power BI</a:t>
            </a:r>
          </a:p>
          <a:p>
            <a:r>
              <a:rPr lang="en-US" sz="2600" dirty="0">
                <a:latin typeface="Times New Roman" panose="02020603050405020304" pitchFamily="18" charset="0"/>
                <a:cs typeface="Times New Roman" panose="02020603050405020304" pitchFamily="18" charset="0"/>
              </a:rPr>
              <a:t>Cleaned and transformed data using Power Query</a:t>
            </a:r>
          </a:p>
          <a:p>
            <a:r>
              <a:rPr lang="en-IN" sz="2600" dirty="0">
                <a:latin typeface="Times New Roman" panose="02020603050405020304" pitchFamily="18" charset="0"/>
                <a:cs typeface="Times New Roman" panose="02020603050405020304" pitchFamily="18" charset="0"/>
              </a:rPr>
              <a:t>Created relationships between tables</a:t>
            </a:r>
          </a:p>
          <a:p>
            <a:r>
              <a:rPr lang="en-US" sz="2600" dirty="0">
                <a:latin typeface="Times New Roman" panose="02020603050405020304" pitchFamily="18" charset="0"/>
                <a:cs typeface="Times New Roman" panose="02020603050405020304" pitchFamily="18" charset="0"/>
              </a:rPr>
              <a:t>Built calculated measures using DAX formulas</a:t>
            </a:r>
          </a:p>
          <a:p>
            <a:r>
              <a:rPr lang="en-US" sz="2600" dirty="0">
                <a:latin typeface="Times New Roman" panose="02020603050405020304" pitchFamily="18" charset="0"/>
                <a:cs typeface="Times New Roman" panose="02020603050405020304" pitchFamily="18" charset="0"/>
              </a:rPr>
              <a:t>Designed interactive dashboards and reports</a:t>
            </a:r>
          </a:p>
          <a:p>
            <a:r>
              <a:rPr lang="en-US" sz="2600" dirty="0">
                <a:latin typeface="Times New Roman" panose="02020603050405020304" pitchFamily="18" charset="0"/>
                <a:cs typeface="Times New Roman" panose="02020603050405020304" pitchFamily="18" charset="0"/>
              </a:rPr>
              <a:t>Generated business insights through visual charts and graphs</a:t>
            </a:r>
          </a:p>
          <a:p>
            <a:endParaRPr lang="en-IN" dirty="0"/>
          </a:p>
        </p:txBody>
      </p:sp>
    </p:spTree>
    <p:extLst>
      <p:ext uri="{BB962C8B-B14F-4D97-AF65-F5344CB8AC3E}">
        <p14:creationId xmlns:p14="http://schemas.microsoft.com/office/powerpoint/2010/main" val="4198059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80817-41FF-CEFA-19D1-A2EFB8A06DE7}"/>
              </a:ext>
            </a:extLst>
          </p:cNvPr>
          <p:cNvSpPr>
            <a:spLocks noGrp="1"/>
          </p:cNvSpPr>
          <p:nvPr>
            <p:ph type="title"/>
          </p:nvPr>
        </p:nvSpPr>
        <p:spPr/>
        <p:txBody>
          <a:bodyPr>
            <a:normAutofit/>
          </a:bodyPr>
          <a:lstStyle/>
          <a:p>
            <a:pPr algn="l"/>
            <a:r>
              <a:rPr lang="en-IN" sz="3200" dirty="0">
                <a:solidFill>
                  <a:srgbClr val="00B0F0"/>
                </a:solidFill>
                <a:latin typeface="Times New Roman" panose="02020603050405020304" pitchFamily="18" charset="0"/>
                <a:cs typeface="Times New Roman" panose="02020603050405020304" pitchFamily="18" charset="0"/>
              </a:rPr>
              <a:t>DATA PREPROCESSING :</a:t>
            </a:r>
          </a:p>
        </p:txBody>
      </p:sp>
      <p:sp>
        <p:nvSpPr>
          <p:cNvPr id="3" name="Content Placeholder 2">
            <a:extLst>
              <a:ext uri="{FF2B5EF4-FFF2-40B4-BE49-F238E27FC236}">
                <a16:creationId xmlns:a16="http://schemas.microsoft.com/office/drawing/2014/main" id="{B40F8445-DD2D-7267-BDCA-55E76C3BB410}"/>
              </a:ext>
            </a:extLst>
          </p:cNvPr>
          <p:cNvSpPr>
            <a:spLocks noGrp="1"/>
          </p:cNvSpPr>
          <p:nvPr>
            <p:ph idx="1"/>
          </p:nvPr>
        </p:nvSpPr>
        <p:spPr/>
        <p:txBody>
          <a:bodyPr>
            <a:normAutofit lnSpcReduction="10000"/>
          </a:bodyPr>
          <a:lstStyle/>
          <a:p>
            <a:r>
              <a:rPr lang="en-US" sz="2400" dirty="0">
                <a:latin typeface="Times New Roman" panose="02020603050405020304" pitchFamily="18" charset="0"/>
                <a:cs typeface="Times New Roman" panose="02020603050405020304" pitchFamily="18" charset="0"/>
              </a:rPr>
              <a:t>Removed missing or null values</a:t>
            </a:r>
          </a:p>
          <a:p>
            <a:r>
              <a:rPr lang="en-IN" sz="2400" dirty="0">
                <a:latin typeface="Times New Roman" panose="02020603050405020304" pitchFamily="18" charset="0"/>
                <a:cs typeface="Times New Roman" panose="02020603050405020304" pitchFamily="18" charset="0"/>
              </a:rPr>
              <a:t>Eliminated duplicate records</a:t>
            </a:r>
          </a:p>
          <a:p>
            <a:r>
              <a:rPr lang="en-US" sz="2400" dirty="0">
                <a:latin typeface="Times New Roman" panose="02020603050405020304" pitchFamily="18" charset="0"/>
                <a:cs typeface="Times New Roman" panose="02020603050405020304" pitchFamily="18" charset="0"/>
              </a:rPr>
              <a:t>Corrected inconsistent data formats (date &amp; time)</a:t>
            </a:r>
          </a:p>
          <a:p>
            <a:r>
              <a:rPr lang="en-US" sz="2400" dirty="0">
                <a:latin typeface="Times New Roman" panose="02020603050405020304" pitchFamily="18" charset="0"/>
                <a:cs typeface="Times New Roman" panose="02020603050405020304" pitchFamily="18" charset="0"/>
              </a:rPr>
              <a:t>Converted data types (text to date, string to numeric)</a:t>
            </a:r>
          </a:p>
          <a:p>
            <a:r>
              <a:rPr lang="en-IN" sz="2400" dirty="0">
                <a:latin typeface="Times New Roman" panose="02020603050405020304" pitchFamily="18" charset="0"/>
                <a:cs typeface="Times New Roman" panose="02020603050405020304" pitchFamily="18" charset="0"/>
              </a:rPr>
              <a:t>Standardized location names .</a:t>
            </a:r>
            <a:r>
              <a:rPr lang="en-US" sz="2400" dirty="0">
                <a:latin typeface="Times New Roman" panose="02020603050405020304" pitchFamily="18" charset="0"/>
                <a:cs typeface="Times New Roman" panose="02020603050405020304" pitchFamily="18" charset="0"/>
              </a:rPr>
              <a:t> Handled outliers in fare and distance values</a:t>
            </a:r>
          </a:p>
          <a:p>
            <a:r>
              <a:rPr lang="en-US" sz="2400" dirty="0">
                <a:latin typeface="Times New Roman" panose="02020603050405020304" pitchFamily="18" charset="0"/>
                <a:cs typeface="Times New Roman" panose="02020603050405020304" pitchFamily="18" charset="0"/>
              </a:rPr>
              <a:t>Created new calculated columns (Month, Day, Hour)</a:t>
            </a:r>
          </a:p>
          <a:p>
            <a:r>
              <a:rPr lang="en-US" sz="2400" dirty="0">
                <a:latin typeface="Times New Roman" panose="02020603050405020304" pitchFamily="18" charset="0"/>
                <a:cs typeface="Times New Roman" panose="02020603050405020304" pitchFamily="18" charset="0"/>
              </a:rPr>
              <a:t>Prepared clean dataset for KPI analysis and dashboard creation</a:t>
            </a:r>
            <a:endParaRPr lang="en-IN"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80793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CD950-0916-6C15-F279-8C75009F9883}"/>
              </a:ext>
            </a:extLst>
          </p:cNvPr>
          <p:cNvSpPr>
            <a:spLocks noGrp="1"/>
          </p:cNvSpPr>
          <p:nvPr>
            <p:ph type="title"/>
          </p:nvPr>
        </p:nvSpPr>
        <p:spPr/>
        <p:txBody>
          <a:bodyPr>
            <a:normAutofit/>
          </a:bodyPr>
          <a:lstStyle/>
          <a:p>
            <a:pPr algn="l"/>
            <a:r>
              <a:rPr lang="en-IN" sz="3200" dirty="0">
                <a:solidFill>
                  <a:srgbClr val="00B0F0"/>
                </a:solidFill>
                <a:latin typeface="Times New Roman" panose="02020603050405020304" pitchFamily="18" charset="0"/>
                <a:cs typeface="Times New Roman" panose="02020603050405020304" pitchFamily="18" charset="0"/>
              </a:rPr>
              <a:t>KPI SUMMARY :</a:t>
            </a:r>
          </a:p>
        </p:txBody>
      </p:sp>
      <p:sp>
        <p:nvSpPr>
          <p:cNvPr id="3" name="Content Placeholder 2">
            <a:extLst>
              <a:ext uri="{FF2B5EF4-FFF2-40B4-BE49-F238E27FC236}">
                <a16:creationId xmlns:a16="http://schemas.microsoft.com/office/drawing/2014/main" id="{76DD8E8D-8CB4-36BE-D2C8-94BACA210823}"/>
              </a:ext>
            </a:extLst>
          </p:cNvPr>
          <p:cNvSpPr>
            <a:spLocks noGrp="1"/>
          </p:cNvSpPr>
          <p:nvPr>
            <p:ph idx="1"/>
          </p:nvPr>
        </p:nvSpPr>
        <p:spPr>
          <a:xfrm>
            <a:off x="913794" y="1935921"/>
            <a:ext cx="10353762" cy="3695136"/>
          </a:xfrm>
        </p:spPr>
        <p:txBody>
          <a:bodyPr>
            <a:normAutofit/>
          </a:bodyPr>
          <a:lstStyle/>
          <a:p>
            <a:r>
              <a:rPr lang="en-IN" b="1" dirty="0">
                <a:effectLst/>
                <a:latin typeface="Times New Roman" panose="02020603050405020304" pitchFamily="18" charset="0"/>
                <a:cs typeface="Times New Roman" panose="02020603050405020304" pitchFamily="18" charset="0"/>
              </a:rPr>
              <a:t>Total Bookings</a:t>
            </a:r>
            <a:r>
              <a:rPr lang="en-IN" dirty="0">
                <a:effectLst/>
                <a:latin typeface="Times New Roman" panose="02020603050405020304" pitchFamily="18" charset="0"/>
                <a:cs typeface="Times New Roman" panose="02020603050405020304" pitchFamily="18" charset="0"/>
              </a:rPr>
              <a:t> </a:t>
            </a:r>
          </a:p>
          <a:p>
            <a:r>
              <a:rPr lang="en-IN" b="1" dirty="0">
                <a:effectLst/>
                <a:latin typeface="Times New Roman" panose="02020603050405020304" pitchFamily="18" charset="0"/>
                <a:cs typeface="Times New Roman" panose="02020603050405020304" pitchFamily="18" charset="0"/>
              </a:rPr>
              <a:t>Total Booking Value</a:t>
            </a:r>
            <a:r>
              <a:rPr lang="en-IN" dirty="0">
                <a:effectLst/>
                <a:latin typeface="Times New Roman" panose="02020603050405020304" pitchFamily="18" charset="0"/>
                <a:cs typeface="Times New Roman" panose="02020603050405020304" pitchFamily="18" charset="0"/>
              </a:rPr>
              <a:t> </a:t>
            </a:r>
          </a:p>
          <a:p>
            <a:r>
              <a:rPr lang="en-IN" b="1" dirty="0">
                <a:effectLst/>
                <a:latin typeface="Times New Roman" panose="02020603050405020304" pitchFamily="18" charset="0"/>
                <a:cs typeface="Times New Roman" panose="02020603050405020304" pitchFamily="18" charset="0"/>
              </a:rPr>
              <a:t>Average Booking Value</a:t>
            </a:r>
            <a:r>
              <a:rPr lang="en-IN" dirty="0">
                <a:effectLst/>
                <a:latin typeface="Times New Roman" panose="02020603050405020304" pitchFamily="18" charset="0"/>
                <a:cs typeface="Times New Roman" panose="02020603050405020304" pitchFamily="18" charset="0"/>
              </a:rPr>
              <a:t> </a:t>
            </a:r>
          </a:p>
          <a:p>
            <a:r>
              <a:rPr lang="en-IN" b="1" dirty="0">
                <a:effectLst/>
                <a:latin typeface="Times New Roman" panose="02020603050405020304" pitchFamily="18" charset="0"/>
                <a:cs typeface="Times New Roman" panose="02020603050405020304" pitchFamily="18" charset="0"/>
              </a:rPr>
              <a:t>Total Trip Distance</a:t>
            </a:r>
          </a:p>
          <a:p>
            <a:r>
              <a:rPr lang="en-IN" b="1" dirty="0">
                <a:effectLst/>
                <a:latin typeface="Times New Roman" panose="02020603050405020304" pitchFamily="18" charset="0"/>
                <a:cs typeface="Times New Roman" panose="02020603050405020304" pitchFamily="18" charset="0"/>
              </a:rPr>
              <a:t>Average Trip Time</a:t>
            </a:r>
            <a:r>
              <a:rPr lang="en-IN" dirty="0">
                <a:effectLst/>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60BD7D4-E297-ACD9-5A40-E48DA53FC9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6891" y="4789293"/>
            <a:ext cx="3021591" cy="1257300"/>
          </a:xfrm>
          <a:prstGeom prst="rect">
            <a:avLst/>
          </a:prstGeom>
        </p:spPr>
      </p:pic>
      <p:pic>
        <p:nvPicPr>
          <p:cNvPr id="9" name="Picture 8">
            <a:extLst>
              <a:ext uri="{FF2B5EF4-FFF2-40B4-BE49-F238E27FC236}">
                <a16:creationId xmlns:a16="http://schemas.microsoft.com/office/drawing/2014/main" id="{CC90BB76-8FAB-248B-E598-677FEB1E1A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1578" y="4789293"/>
            <a:ext cx="2691942" cy="1257300"/>
          </a:xfrm>
          <a:prstGeom prst="rect">
            <a:avLst/>
          </a:prstGeom>
        </p:spPr>
      </p:pic>
    </p:spTree>
    <p:extLst>
      <p:ext uri="{BB962C8B-B14F-4D97-AF65-F5344CB8AC3E}">
        <p14:creationId xmlns:p14="http://schemas.microsoft.com/office/powerpoint/2010/main" val="107279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DCFDC-AF1D-F18D-1057-C4406656FC0E}"/>
              </a:ext>
            </a:extLst>
          </p:cNvPr>
          <p:cNvSpPr>
            <a:spLocks noGrp="1"/>
          </p:cNvSpPr>
          <p:nvPr>
            <p:ph type="title"/>
          </p:nvPr>
        </p:nvSpPr>
        <p:spPr/>
        <p:txBody>
          <a:bodyPr>
            <a:normAutofit/>
          </a:bodyPr>
          <a:lstStyle/>
          <a:p>
            <a:pPr algn="l"/>
            <a:r>
              <a:rPr lang="en-IN" sz="3200" dirty="0">
                <a:solidFill>
                  <a:srgbClr val="00B0F0"/>
                </a:solidFill>
                <a:latin typeface="Times New Roman" panose="02020603050405020304" pitchFamily="18" charset="0"/>
                <a:cs typeface="Times New Roman" panose="02020603050405020304" pitchFamily="18" charset="0"/>
              </a:rPr>
              <a:t>DATA MODELLING :</a:t>
            </a:r>
          </a:p>
        </p:txBody>
      </p:sp>
      <p:pic>
        <p:nvPicPr>
          <p:cNvPr id="5" name="Content Placeholder 4">
            <a:extLst>
              <a:ext uri="{FF2B5EF4-FFF2-40B4-BE49-F238E27FC236}">
                <a16:creationId xmlns:a16="http://schemas.microsoft.com/office/drawing/2014/main" id="{603179F0-5D42-39BF-0FC2-6723F1D276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96637" y="1794164"/>
            <a:ext cx="7443553" cy="4055918"/>
          </a:xfrm>
        </p:spPr>
      </p:pic>
    </p:spTree>
    <p:extLst>
      <p:ext uri="{BB962C8B-B14F-4D97-AF65-F5344CB8AC3E}">
        <p14:creationId xmlns:p14="http://schemas.microsoft.com/office/powerpoint/2010/main" val="80305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BC2F7-DCBB-C8C5-44AC-D033FD03E5F8}"/>
              </a:ext>
            </a:extLst>
          </p:cNvPr>
          <p:cNvSpPr>
            <a:spLocks noGrp="1"/>
          </p:cNvSpPr>
          <p:nvPr>
            <p:ph type="title"/>
          </p:nvPr>
        </p:nvSpPr>
        <p:spPr/>
        <p:txBody>
          <a:bodyPr>
            <a:normAutofit/>
          </a:bodyPr>
          <a:lstStyle/>
          <a:p>
            <a:pPr algn="l"/>
            <a:r>
              <a:rPr lang="en-IN" sz="3200" dirty="0">
                <a:solidFill>
                  <a:srgbClr val="00B0F0"/>
                </a:solidFill>
                <a:latin typeface="Times New Roman" panose="02020603050405020304" pitchFamily="18" charset="0"/>
                <a:cs typeface="Times New Roman" panose="02020603050405020304" pitchFamily="18" charset="0"/>
              </a:rPr>
              <a:t>DAX MEASURES :</a:t>
            </a:r>
          </a:p>
        </p:txBody>
      </p:sp>
      <p:sp>
        <p:nvSpPr>
          <p:cNvPr id="3" name="Content Placeholder 2">
            <a:extLst>
              <a:ext uri="{FF2B5EF4-FFF2-40B4-BE49-F238E27FC236}">
                <a16:creationId xmlns:a16="http://schemas.microsoft.com/office/drawing/2014/main" id="{6093A566-0A54-04E8-5B5E-0F127C9913F3}"/>
              </a:ext>
            </a:extLst>
          </p:cNvPr>
          <p:cNvSpPr>
            <a:spLocks noGrp="1"/>
          </p:cNvSpPr>
          <p:nvPr>
            <p:ph idx="1"/>
          </p:nvPr>
        </p:nvSpPr>
        <p:spPr/>
        <p:txBody>
          <a:bodyPr>
            <a:normAutofit lnSpcReduction="10000"/>
          </a:bodyPr>
          <a:lstStyle/>
          <a:p>
            <a:r>
              <a:rPr lang="en-IN" sz="2400" dirty="0">
                <a:latin typeface="Times New Roman" panose="02020603050405020304" pitchFamily="18" charset="0"/>
                <a:cs typeface="Times New Roman" panose="02020603050405020304" pitchFamily="18" charset="0"/>
              </a:rPr>
              <a:t>DAX is called as [ Data Analysis Expression ]</a:t>
            </a:r>
          </a:p>
          <a:p>
            <a:r>
              <a:rPr lang="en-IN" sz="2400" dirty="0">
                <a:latin typeface="Times New Roman" panose="02020603050405020304" pitchFamily="18" charset="0"/>
                <a:cs typeface="Times New Roman" panose="02020603050405020304" pitchFamily="18" charset="0"/>
              </a:rPr>
              <a:t>DAX is a formula language used in power bi</a:t>
            </a:r>
          </a:p>
          <a:p>
            <a:pPr marL="0" indent="0">
              <a:buNone/>
            </a:pPr>
            <a:r>
              <a:rPr lang="en-IN" sz="2400" dirty="0">
                <a:latin typeface="Times New Roman" panose="02020603050405020304" pitchFamily="18" charset="0"/>
                <a:cs typeface="Times New Roman" panose="02020603050405020304" pitchFamily="18" charset="0"/>
              </a:rPr>
              <a:t>MEASURES :</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Total Booking : count(‘trip details’[trip id])</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Total Revenue Amount : sum(‘trip details’[fare amount]) + sum(‘trip        details’[surge fee])</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Total Trip Distance : sum(‘trip details’[trip distance])</a:t>
            </a:r>
          </a:p>
        </p:txBody>
      </p:sp>
    </p:spTree>
    <p:extLst>
      <p:ext uri="{BB962C8B-B14F-4D97-AF65-F5344CB8AC3E}">
        <p14:creationId xmlns:p14="http://schemas.microsoft.com/office/powerpoint/2010/main" val="2465892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F7476-6265-46AA-C609-0ADC730083DD}"/>
              </a:ext>
            </a:extLst>
          </p:cNvPr>
          <p:cNvSpPr>
            <a:spLocks noGrp="1"/>
          </p:cNvSpPr>
          <p:nvPr>
            <p:ph type="title"/>
          </p:nvPr>
        </p:nvSpPr>
        <p:spPr/>
        <p:txBody>
          <a:bodyPr>
            <a:normAutofit/>
          </a:bodyPr>
          <a:lstStyle/>
          <a:p>
            <a:pPr algn="l"/>
            <a:r>
              <a:rPr lang="en-IN" sz="3200" dirty="0">
                <a:solidFill>
                  <a:srgbClr val="00B0F0"/>
                </a:solidFill>
                <a:latin typeface="Times New Roman" panose="02020603050405020304" pitchFamily="18" charset="0"/>
                <a:cs typeface="Times New Roman" panose="02020603050405020304" pitchFamily="18" charset="0"/>
              </a:rPr>
              <a:t>POWER BI DASHBOARD OVERVIEW :</a:t>
            </a:r>
          </a:p>
        </p:txBody>
      </p:sp>
      <p:pic>
        <p:nvPicPr>
          <p:cNvPr id="9" name="Content Placeholder 8">
            <a:extLst>
              <a:ext uri="{FF2B5EF4-FFF2-40B4-BE49-F238E27FC236}">
                <a16:creationId xmlns:a16="http://schemas.microsoft.com/office/drawing/2014/main" id="{0D8655DD-FD31-4A35-A79A-5872B05F85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0020" y="1935921"/>
            <a:ext cx="8181309" cy="4402533"/>
          </a:xfrm>
        </p:spPr>
      </p:pic>
    </p:spTree>
    <p:extLst>
      <p:ext uri="{BB962C8B-B14F-4D97-AF65-F5344CB8AC3E}">
        <p14:creationId xmlns:p14="http://schemas.microsoft.com/office/powerpoint/2010/main" val="1514519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B5002-F596-C440-1BD2-EEB882882D67}"/>
              </a:ext>
            </a:extLst>
          </p:cNvPr>
          <p:cNvSpPr>
            <a:spLocks noGrp="1"/>
          </p:cNvSpPr>
          <p:nvPr>
            <p:ph type="title"/>
          </p:nvPr>
        </p:nvSpPr>
        <p:spPr/>
        <p:txBody>
          <a:bodyPr>
            <a:normAutofit/>
          </a:bodyPr>
          <a:lstStyle/>
          <a:p>
            <a:r>
              <a:rPr lang="en-IN" sz="3200" dirty="0">
                <a:solidFill>
                  <a:srgbClr val="00B0F0"/>
                </a:solidFill>
                <a:latin typeface="Times New Roman" panose="02020603050405020304" pitchFamily="18" charset="0"/>
                <a:cs typeface="Times New Roman" panose="02020603050405020304" pitchFamily="18" charset="0"/>
              </a:rPr>
              <a:t>Total BOOKINGS BY PAYMENT TYPE  </a:t>
            </a:r>
          </a:p>
        </p:txBody>
      </p:sp>
      <p:sp>
        <p:nvSpPr>
          <p:cNvPr id="3" name="Content Placeholder 2">
            <a:extLst>
              <a:ext uri="{FF2B5EF4-FFF2-40B4-BE49-F238E27FC236}">
                <a16:creationId xmlns:a16="http://schemas.microsoft.com/office/drawing/2014/main" id="{EF2D5AC3-EC76-AE0A-E491-752CBDBC7C8D}"/>
              </a:ext>
            </a:extLst>
          </p:cNvPr>
          <p:cNvSpPr>
            <a:spLocks noGrp="1"/>
          </p:cNvSpPr>
          <p:nvPr>
            <p:ph idx="1"/>
          </p:nvPr>
        </p:nvSpPr>
        <p:spPr/>
        <p:txBody>
          <a:bodyPr/>
          <a:lstStyle/>
          <a:p>
            <a:r>
              <a:rPr lang="en-IN" sz="2400" dirty="0">
                <a:latin typeface="Times New Roman" panose="02020603050405020304" pitchFamily="18" charset="0"/>
                <a:cs typeface="Times New Roman" panose="02020603050405020304" pitchFamily="18" charset="0"/>
              </a:rPr>
              <a:t>Donut chart : show payment type of each category to total booking value  </a:t>
            </a:r>
          </a:p>
          <a:p>
            <a:r>
              <a:rPr lang="en-IN" sz="2400" dirty="0" err="1">
                <a:latin typeface="Times New Roman" panose="02020603050405020304" pitchFamily="18" charset="0"/>
                <a:cs typeface="Times New Roman" panose="02020603050405020304" pitchFamily="18" charset="0"/>
              </a:rPr>
              <a:t>Lengend</a:t>
            </a:r>
            <a:r>
              <a:rPr lang="en-IN" sz="2400" dirty="0">
                <a:latin typeface="Times New Roman" panose="02020603050405020304" pitchFamily="18" charset="0"/>
                <a:cs typeface="Times New Roman" panose="02020603050405020304" pitchFamily="18" charset="0"/>
              </a:rPr>
              <a:t> : Payment type </a:t>
            </a:r>
          </a:p>
          <a:p>
            <a:r>
              <a:rPr lang="en-IN" sz="2400" dirty="0">
                <a:latin typeface="Times New Roman" panose="02020603050405020304" pitchFamily="18" charset="0"/>
                <a:cs typeface="Times New Roman" panose="02020603050405020304" pitchFamily="18" charset="0"/>
              </a:rPr>
              <a:t>Value : Total Booking Value</a:t>
            </a:r>
          </a:p>
          <a:p>
            <a:pPr marL="0" indent="0">
              <a:buNone/>
            </a:pPr>
            <a:endParaRPr lang="en-IN" dirty="0"/>
          </a:p>
        </p:txBody>
      </p:sp>
      <p:pic>
        <p:nvPicPr>
          <p:cNvPr id="5" name="Picture 4">
            <a:extLst>
              <a:ext uri="{FF2B5EF4-FFF2-40B4-BE49-F238E27FC236}">
                <a16:creationId xmlns:a16="http://schemas.microsoft.com/office/drawing/2014/main" id="{DBB67264-7F11-84B4-B969-6E228838F6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5051" y="2980459"/>
            <a:ext cx="3508231" cy="2360468"/>
          </a:xfrm>
          <a:prstGeom prst="rect">
            <a:avLst/>
          </a:prstGeom>
        </p:spPr>
      </p:pic>
    </p:spTree>
    <p:extLst>
      <p:ext uri="{BB962C8B-B14F-4D97-AF65-F5344CB8AC3E}">
        <p14:creationId xmlns:p14="http://schemas.microsoft.com/office/powerpoint/2010/main" val="4010732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D950-028A-E0A8-333A-55B482D9DCDA}"/>
              </a:ext>
            </a:extLst>
          </p:cNvPr>
          <p:cNvSpPr>
            <a:spLocks noGrp="1"/>
          </p:cNvSpPr>
          <p:nvPr>
            <p:ph type="title"/>
          </p:nvPr>
        </p:nvSpPr>
        <p:spPr>
          <a:xfrm>
            <a:off x="570895" y="507548"/>
            <a:ext cx="10353761" cy="1326321"/>
          </a:xfrm>
        </p:spPr>
        <p:txBody>
          <a:bodyPr>
            <a:normAutofit/>
          </a:bodyPr>
          <a:lstStyle/>
          <a:p>
            <a:pPr algn="l"/>
            <a:r>
              <a:rPr lang="en-IN" sz="2800" dirty="0">
                <a:solidFill>
                  <a:srgbClr val="00B0F0"/>
                </a:solidFill>
                <a:latin typeface="Times New Roman" panose="02020603050405020304" pitchFamily="18" charset="0"/>
                <a:cs typeface="Times New Roman" panose="02020603050405020304" pitchFamily="18" charset="0"/>
              </a:rPr>
              <a:t>Total BOOKINGS BY DAY :</a:t>
            </a:r>
          </a:p>
        </p:txBody>
      </p:sp>
      <p:sp>
        <p:nvSpPr>
          <p:cNvPr id="3" name="Content Placeholder 2">
            <a:extLst>
              <a:ext uri="{FF2B5EF4-FFF2-40B4-BE49-F238E27FC236}">
                <a16:creationId xmlns:a16="http://schemas.microsoft.com/office/drawing/2014/main" id="{28BE6ECE-AD2E-2B65-28D7-E0378CCD5C43}"/>
              </a:ext>
            </a:extLst>
          </p:cNvPr>
          <p:cNvSpPr>
            <a:spLocks noGrp="1"/>
          </p:cNvSpPr>
          <p:nvPr>
            <p:ph idx="1"/>
          </p:nvPr>
        </p:nvSpPr>
        <p:spPr>
          <a:xfrm>
            <a:off x="716973" y="1581432"/>
            <a:ext cx="10446675" cy="3695136"/>
          </a:xfrm>
        </p:spPr>
        <p:txBody>
          <a:bodyPr>
            <a:normAutofit fontScale="92500" lnSpcReduction="10000"/>
          </a:bodyPr>
          <a:lstStyle/>
          <a:p>
            <a:r>
              <a:rPr lang="en-IN" sz="2400" dirty="0">
                <a:latin typeface="Times New Roman" panose="02020603050405020304" pitchFamily="18" charset="0"/>
                <a:cs typeface="Times New Roman" panose="02020603050405020304" pitchFamily="18" charset="0"/>
              </a:rPr>
              <a:t>Area Chart :</a:t>
            </a:r>
          </a:p>
          <a:p>
            <a:pPr marL="0" indent="0">
              <a:buNone/>
            </a:pPr>
            <a:r>
              <a:rPr lang="en-IN" sz="2400" dirty="0">
                <a:latin typeface="Times New Roman" panose="02020603050405020304" pitchFamily="18" charset="0"/>
                <a:cs typeface="Times New Roman" panose="02020603050405020304" pitchFamily="18" charset="0"/>
              </a:rPr>
              <a:t>    X – axis : Day </a:t>
            </a:r>
          </a:p>
          <a:p>
            <a:pPr marL="0" indent="0">
              <a:buNone/>
            </a:pPr>
            <a:r>
              <a:rPr lang="en-IN" sz="2400" dirty="0">
                <a:latin typeface="Times New Roman" panose="02020603050405020304" pitchFamily="18" charset="0"/>
                <a:cs typeface="Times New Roman" panose="02020603050405020304" pitchFamily="18" charset="0"/>
              </a:rPr>
              <a:t>    Y – axis : Total Bookings </a:t>
            </a:r>
          </a:p>
          <a:p>
            <a:pPr marL="0" indent="0">
              <a:buNone/>
            </a:pPr>
            <a:r>
              <a:rPr lang="en-IN" sz="2800" dirty="0">
                <a:solidFill>
                  <a:srgbClr val="00B0F0"/>
                </a:solidFill>
                <a:latin typeface="Times New Roman" panose="02020603050405020304" pitchFamily="18" charset="0"/>
                <a:cs typeface="Times New Roman" panose="02020603050405020304" pitchFamily="18" charset="0"/>
              </a:rPr>
              <a:t>TOP 5 LOCATION </a:t>
            </a:r>
            <a:r>
              <a:rPr lang="en-IN" dirty="0">
                <a:solidFill>
                  <a:srgbClr val="00B0F0"/>
                </a:solidFill>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Stacked Bar Chart :</a:t>
            </a:r>
          </a:p>
          <a:p>
            <a:pPr marL="0" indent="0">
              <a:buNone/>
            </a:pPr>
            <a:r>
              <a:rPr lang="en-IN" sz="2400" dirty="0">
                <a:latin typeface="Times New Roman" panose="02020603050405020304" pitchFamily="18" charset="0"/>
                <a:cs typeface="Times New Roman" panose="02020603050405020304" pitchFamily="18" charset="0"/>
              </a:rPr>
              <a:t>    X - axis : Total booking </a:t>
            </a:r>
          </a:p>
          <a:p>
            <a:pPr marL="0" indent="0">
              <a:buNone/>
            </a:pPr>
            <a:r>
              <a:rPr lang="en-IN" sz="2400" dirty="0">
                <a:latin typeface="Times New Roman" panose="02020603050405020304" pitchFamily="18" charset="0"/>
                <a:cs typeface="Times New Roman" panose="02020603050405020304" pitchFamily="18" charset="0"/>
              </a:rPr>
              <a:t>    Y – axis : Location </a:t>
            </a:r>
          </a:p>
          <a:p>
            <a:pPr marL="0" indent="0">
              <a:buNone/>
            </a:pPr>
            <a:endParaRPr lang="en-IN" dirty="0"/>
          </a:p>
        </p:txBody>
      </p:sp>
      <p:pic>
        <p:nvPicPr>
          <p:cNvPr id="5" name="Picture 4">
            <a:extLst>
              <a:ext uri="{FF2B5EF4-FFF2-40B4-BE49-F238E27FC236}">
                <a16:creationId xmlns:a16="http://schemas.microsoft.com/office/drawing/2014/main" id="{2323C222-5C08-F3BB-2627-C9EE2788EA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3272" y="1722294"/>
            <a:ext cx="4648200" cy="1543050"/>
          </a:xfrm>
          <a:prstGeom prst="rect">
            <a:avLst/>
          </a:prstGeom>
        </p:spPr>
      </p:pic>
      <p:pic>
        <p:nvPicPr>
          <p:cNvPr id="6" name="Picture 5">
            <a:extLst>
              <a:ext uri="{FF2B5EF4-FFF2-40B4-BE49-F238E27FC236}">
                <a16:creationId xmlns:a16="http://schemas.microsoft.com/office/drawing/2014/main" id="{62807F55-9EEF-43D4-9B2D-ACC6CC8A66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592657"/>
            <a:ext cx="3262313" cy="2162477"/>
          </a:xfrm>
          <a:prstGeom prst="rect">
            <a:avLst/>
          </a:prstGeom>
        </p:spPr>
      </p:pic>
    </p:spTree>
    <p:extLst>
      <p:ext uri="{BB962C8B-B14F-4D97-AF65-F5344CB8AC3E}">
        <p14:creationId xmlns:p14="http://schemas.microsoft.com/office/powerpoint/2010/main" val="157565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92146-C577-1221-3CFE-FB5E9AC78AB3}"/>
              </a:ext>
            </a:extLst>
          </p:cNvPr>
          <p:cNvSpPr>
            <a:spLocks noGrp="1"/>
          </p:cNvSpPr>
          <p:nvPr>
            <p:ph type="title"/>
          </p:nvPr>
        </p:nvSpPr>
        <p:spPr/>
        <p:txBody>
          <a:bodyPr>
            <a:normAutofit/>
          </a:bodyPr>
          <a:lstStyle/>
          <a:p>
            <a:pPr algn="l"/>
            <a:r>
              <a:rPr lang="en-IN" sz="3200" dirty="0">
                <a:solidFill>
                  <a:srgbClr val="00B0F0"/>
                </a:solidFill>
                <a:latin typeface="Times New Roman" panose="02020603050405020304" pitchFamily="18" charset="0"/>
                <a:cs typeface="Times New Roman" panose="02020603050405020304" pitchFamily="18" charset="0"/>
              </a:rPr>
              <a:t>CONCLUSION </a:t>
            </a:r>
          </a:p>
        </p:txBody>
      </p:sp>
      <p:sp>
        <p:nvSpPr>
          <p:cNvPr id="3" name="Content Placeholder 2">
            <a:extLst>
              <a:ext uri="{FF2B5EF4-FFF2-40B4-BE49-F238E27FC236}">
                <a16:creationId xmlns:a16="http://schemas.microsoft.com/office/drawing/2014/main" id="{C197E372-1728-6082-ACA6-2F6EF4777901}"/>
              </a:ext>
            </a:extLst>
          </p:cNvPr>
          <p:cNvSpPr>
            <a:spLocks noGrp="1"/>
          </p:cNvSpPr>
          <p:nvPr>
            <p:ph idx="1"/>
          </p:nvPr>
        </p:nvSpPr>
        <p:spPr>
          <a:xfrm>
            <a:off x="913795" y="1701209"/>
            <a:ext cx="10353762" cy="3695136"/>
          </a:xfrm>
        </p:spPr>
        <p:txBody>
          <a:bodyPr>
            <a:noAutofit/>
          </a:bodyPr>
          <a:lstStyle/>
          <a:p>
            <a:r>
              <a:rPr lang="en-US" sz="2400" dirty="0">
                <a:latin typeface="Times New Roman" panose="02020603050405020304" pitchFamily="18" charset="0"/>
                <a:cs typeface="Times New Roman" panose="02020603050405020304" pitchFamily="18" charset="0"/>
              </a:rPr>
              <a:t>The Uber Dataset Analysis highlights the importance of transforming raw trip data into meaningful business insights. Through detailed examination of ride patterns, revenue distribution, and customer demand trends, the project provides a clear understanding of operational performance.</a:t>
            </a:r>
          </a:p>
          <a:p>
            <a:r>
              <a:rPr lang="en-US" sz="2400" dirty="0">
                <a:latin typeface="Times New Roman" panose="02020603050405020304" pitchFamily="18" charset="0"/>
                <a:cs typeface="Times New Roman" panose="02020603050405020304" pitchFamily="18" charset="0"/>
              </a:rPr>
              <a:t>leveraging data analytics supports smarter decision-making, enhances overall efficiency, and contributes to sustainable business growth. Continuous analysis and dashboard monitoring will ensure long-term success and competitive advantage.</a:t>
            </a:r>
          </a:p>
          <a:p>
            <a:r>
              <a:rPr lang="en-US" sz="2400" dirty="0">
                <a:latin typeface="Times New Roman" panose="02020603050405020304" pitchFamily="18" charset="0"/>
                <a:cs typeface="Times New Roman" panose="02020603050405020304" pitchFamily="18" charset="0"/>
              </a:rPr>
              <a:t>These findings enable better planning, efficient driver management, and improved service delivery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3835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5C5D5-53F1-6167-E7CA-72C0050CFBD4}"/>
              </a:ext>
            </a:extLst>
          </p:cNvPr>
          <p:cNvSpPr>
            <a:spLocks noGrp="1"/>
          </p:cNvSpPr>
          <p:nvPr>
            <p:ph type="title"/>
          </p:nvPr>
        </p:nvSpPr>
        <p:spPr>
          <a:xfrm>
            <a:off x="657121" y="2422358"/>
            <a:ext cx="10353761" cy="1326321"/>
          </a:xfrm>
        </p:spPr>
        <p:txBody>
          <a:bodyPr>
            <a:normAutofit/>
          </a:bodyPr>
          <a:lstStyle/>
          <a:p>
            <a:r>
              <a:rPr lang="en-IN" sz="4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4455940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143</TotalTime>
  <Words>669</Words>
  <Application>Microsoft Office PowerPoint</Application>
  <PresentationFormat>Widescreen</PresentationFormat>
  <Paragraphs>77</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Bookman Old Style</vt:lpstr>
      <vt:lpstr>Rockwell</vt:lpstr>
      <vt:lpstr>Times New Roman</vt:lpstr>
      <vt:lpstr>Wingdings</vt:lpstr>
      <vt:lpstr>Damask</vt:lpstr>
      <vt:lpstr>UBER ANALYSIS</vt:lpstr>
      <vt:lpstr>INTRODUCATION :</vt:lpstr>
      <vt:lpstr>PROBLEM STATEMENT :</vt:lpstr>
      <vt:lpstr>BUSINESS PROBLEM :</vt:lpstr>
      <vt:lpstr>DATA OVERVIEW :</vt:lpstr>
      <vt:lpstr>TECHNOLOGY USED :</vt:lpstr>
      <vt:lpstr>DATA PREPROCESSING :</vt:lpstr>
      <vt:lpstr>KPI SUMMARY :</vt:lpstr>
      <vt:lpstr>DATA MODELLING :</vt:lpstr>
      <vt:lpstr>DAX MEASURES :</vt:lpstr>
      <vt:lpstr>POWER BI DASHBOARD OVERVIEW :</vt:lpstr>
      <vt:lpstr>Total BOOKINGS BY PAYMENT TYPE  </vt:lpstr>
      <vt:lpstr>Total BOOKINGS BY DAY :</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ANALYSIS</dc:title>
  <dc:creator>D VAISHNAVI</dc:creator>
  <cp:lastModifiedBy>Anudip1</cp:lastModifiedBy>
  <cp:revision>9</cp:revision>
  <dcterms:created xsi:type="dcterms:W3CDTF">2026-03-01T16:06:11Z</dcterms:created>
  <dcterms:modified xsi:type="dcterms:W3CDTF">2026-03-04T07:41:01Z</dcterms:modified>
</cp:coreProperties>
</file>